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64592" cy="4114800"/>
          </a:xfrm>
          <a:prstGeom prst="rect">
            <a:avLst/>
          </a:prstGeom>
          <a:solidFill>
            <a:srgbClr val="D70018"/>
          </a:solidFill>
          <a:ln>
            <a:solidFill>
              <a:srgbClr val="D7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4D6D"/>
                </a:solidFill>
              </a:rPr>
              <a:t>ĐỒ ÁN MÔN HỌC: CÔNG NGHỆ WEB &amp; KIẾN TRÚC ỨNG DỤNG
</a:t>
            </a:r>
          </a:p>
          <a:p>
            <a:r>
              <a:rPr sz="2800" b="1">
                <a:solidFill>
                  <a:srgbClr val="FFFFFF"/>
                </a:solidFill>
              </a:rPr>
              <a:t>TECHSTORE – NỀN TẢNG TMĐT ĐỒ CÔNG NGHỆ
</a:t>
            </a:r>
          </a:p>
          <a:p>
            <a:r>
              <a:rPr sz="1400">
                <a:solidFill>
                  <a:srgbClr val="CBD5E1"/>
                </a:solidFill>
              </a:rPr>
              <a:t>ỨNG DỤNG KIẾN TRÚC RESTful API, XÁC THỰC JWT, THANH TOÁN VIETQR &amp; GỢI Ý THÔNG MINH
</a:t>
            </a:r>
          </a:p>
          <a:p>
            <a:r>
              <a:rPr sz="1300">
                <a:solidFill>
                  <a:srgbClr val="94A3B8"/>
                </a:solidFill>
              </a:rPr>
              <a:t>Topic 1: RESTful API · Khóa 2022-2026
Nhóm thực hiện: Hữu Nam (Tech Lead) · Thành Trung (Database) · Tuấn Kiệt (Front-end &amp; 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1. MỤC TIÊU &amp; YÊU CẦU ĐỀ TÀI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Làm chủ nguyên lý thiết kế và hiện thực hóa chuẩn RESTful API bằng PHP thuần và MySQL 8.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Chuẩn hóa đầy đủ 37 endpoints RESTful API bao quát 8 phân hệ nghiệp vụ TMĐT.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Cài đặt cơ chế bảo mật xác thực JSON Web Token (JWT - RFC 7519) kèm Access &amp; Refresh Token.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Tích hợp phương thức thanh toán số thế hệ mới:</a:t>
            </a:r>
            <a:r>
              <a:rPr sz="1400">
                <a:solidFill>
                  <a:srgbClr val="334155"/>
                </a:solidFill>
              </a:rPr>
              <a:t> Quét mã VietQR NAPAS247 và Polling thời gian thực.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Phát triển giao diện Front-end hiện đại phong cách Glassmorphism + Liquid Aurora Mesh lấy cảm hứng từ CellphoneS.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Xây dựng thuật toán gợi ý mua kèm phụ kiện (Frequently Bought Together) và sản phẩm tương tự.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2. KIẾN TRÚC TỔNG THỂ 3 TẦNG (DECOUPLED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Tầng Trình Diễn (Presentation Layer):</a:t>
            </a:r>
            <a:r>
              <a:rPr sz="1400">
                <a:solidFill>
                  <a:srgbClr val="334155"/>
                </a:solidFill>
              </a:rPr>
              <a:t> HTML5, CSS3 Tokens, Vanilla JavaScript ES6 (Fetch API, api.js wrapper). Hoàn toàn độc lập với phía máy chủ.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Tầng Dịch Vụ Ứng Dụng (Application Gateway):</a:t>
            </a:r>
            <a:r>
              <a:rPr sz="1400">
                <a:solidFill>
                  <a:srgbClr val="334155"/>
                </a:solidFill>
              </a:rPr>
              <a:t> PHP 8.x thuần, Front Controller, MVC Router điều hướng 37 REST endpoints.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Tầng Dữ Liệu &amp; Lưu Trữ (Data Persistence Layer):</a:t>
            </a:r>
            <a:r>
              <a:rPr sz="1400">
                <a:solidFill>
                  <a:srgbClr val="334155"/>
                </a:solidFill>
              </a:rPr>
              <a:t> MySQL 8 quan hệ (15+ bảng) kết hợp JSON Storage Adapter chống đứt gãy môi trường.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Tài Liệu Hóa Tương Tác:</a:t>
            </a:r>
            <a:r>
              <a:rPr sz="1400">
                <a:solidFill>
                  <a:srgbClr val="334155"/>
                </a:solidFill>
              </a:rPr>
              <a:t> Cổng Swagger UI &amp; Redoc tại đường dẫn /docs/index.html đọc trực tiếp từ openapi.yaml.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3. CƠ CHẾ BẢO MẬT XÁC THỰC JWT (RFC 7519)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Không sử dụng Session/Cookie truyền thống nhằm đảm bảo nguyên tắc vô trạng thái (Stateless) của RESTful API.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Access Token:</a:t>
            </a:r>
            <a:r>
              <a:rPr sz="1400">
                <a:solidFill>
                  <a:srgbClr val="334155"/>
                </a:solidFill>
              </a:rPr>
              <a:t> Thời hạn sống ngắn (15 phút), mã hóa HS256, chứa user_id, role, email.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Refresh Token:</a:t>
            </a:r>
            <a:r>
              <a:rPr sz="1400">
                <a:solidFill>
                  <a:srgbClr val="334155"/>
                </a:solidFill>
              </a:rPr>
              <a:t> Thời hạn sống dài (7 ngày), lưu an toàn, dùng để cấp phát access token mới.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JWT Interceptor trong api.js:</a:t>
            </a:r>
            <a:r>
              <a:rPr sz="1400">
                <a:solidFill>
                  <a:srgbClr val="334155"/>
                </a:solidFill>
              </a:rPr>
              <a:t> Tự động đính kèm 'Authorization: Bearer &lt;token&gt;', tự động bắt lỗi 401 Unauthorized để xin cấp lại token trong suốt với người dùng.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quyền RBAC (Role-Based Access Control):</a:t>
            </a:r>
            <a:r>
              <a:rPr sz="1400">
                <a:solidFill>
                  <a:srgbClr val="334155"/>
                </a:solidFill>
              </a:rPr>
              <a:t> Phân định rõ ràng Customer và Admin cho từng endpoint.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4. THIẾT KẾ CƠ SỞ DỮ LIỆU QUAN HỆ (ERD ≥ 15 BẢNG)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hệ Người dùng:</a:t>
            </a:r>
            <a:r>
              <a:rPr sz="1400">
                <a:solidFill>
                  <a:srgbClr val="334155"/>
                </a:solidFill>
              </a:rPr>
              <a:t> users (id, name, email, password_hash, role, status), user_addresses.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hệ Danh mục &amp; Hãng:</a:t>
            </a:r>
            <a:r>
              <a:rPr sz="1400">
                <a:solidFill>
                  <a:srgbClr val="334155"/>
                </a:solidFill>
              </a:rPr>
              <a:t> categories (id, name, slug, icon), brands (id, name, logo).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hệ Sản phẩm:</a:t>
            </a:r>
            <a:r>
              <a:rPr sz="1400">
                <a:solidFill>
                  <a:srgbClr val="334155"/>
                </a:solidFill>
              </a:rPr>
              <a:t> products, product_images, product_variants, product_attributes.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hệ Giỏ hàng &amp; Khuyến mãi:</a:t>
            </a:r>
            <a:r>
              <a:rPr sz="1400">
                <a:solidFill>
                  <a:srgbClr val="334155"/>
                </a:solidFill>
              </a:rPr>
              <a:t> carts, cart_items, coupons (code, discount_type, value, min_spend).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hệ Đơn hàng &amp; Thanh toán:</a:t>
            </a:r>
            <a:r>
              <a:rPr sz="1400">
                <a:solidFill>
                  <a:srgbClr val="334155"/>
                </a:solidFill>
              </a:rPr>
              <a:t> orders, order_items, payments (qr_code, status, trans_id).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Phân hệ Tương tác:</a:t>
            </a:r>
            <a:r>
              <a:rPr sz="1400">
                <a:solidFill>
                  <a:srgbClr val="334155"/>
                </a:solidFill>
              </a:rPr>
              <a:t> reviews (rating, comment), wishlists, event_logs (lịch sử xem để gợi ý).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5. ĐẶC TẢ 37 RESTful API &amp; CỔNG SWAGGER UI / REDOC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Tất cả 37 endpoints tuân thủ nguyên tắc Stateless, URI danh từ, chuẩn hóa HTTP Methods (GET, POST, PUT, DELETE).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Chuẩn phản hồi thống nhất:</a:t>
            </a:r>
            <a:r>
              <a:rPr sz="1400">
                <a:solidFill>
                  <a:srgbClr val="334155"/>
                </a:solidFill>
              </a:rPr>
              <a:t> { success: true/false, data: {...}, message: '...' }.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Mã trạng thái chuẩn RFC 7231:</a:t>
            </a:r>
            <a:r>
              <a:rPr sz="1400">
                <a:solidFill>
                  <a:srgbClr val="334155"/>
                </a:solidFill>
              </a:rPr>
              <a:t> 200 OK, 201 Created, 204 No Content, 400 Bad Request, 401 Unauthorized, 403 Forbidden, 404 Not Found, 409 Conflict.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Cổng API Documentation tương tác tại /docs/index.html hỗ trợ:</a:t>
            </a:r>
            <a:r>
              <a:rPr sz="1400">
                <a:solidFill>
                  <a:srgbClr val="334155"/>
                </a:solidFill>
              </a:rPr>
              <a:t> Swagger UI (Thử nghiệm trực tiếp), Redoc (Đọc chuẩn 3 cột), và Bảng ánh xạ CRUD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6. THANH TOÁN VIETQR NAPAS247 &amp; POLLING REALTIME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Khách hàng bấm chọn hình thức 'Chuyển khoản VietQR' tại trang checkout.html.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Máy chủ sinh mã đơn hàng duy nhất (VD:</a:t>
            </a:r>
            <a:r>
              <a:rPr sz="1400">
                <a:solidFill>
                  <a:srgbClr val="334155"/>
                </a:solidFill>
              </a:rPr>
              <a:t> TS-20261023-XXXX) và tạo mã QR chuẩn NAPAS247 ngân hàng MBBank.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Trang payment-qr.html hiển thị mã QR, hướng dẫn quét app ngân hàng và đồng hồ đếm ngược 15 phút.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Cơ chế Polling 3s:</a:t>
            </a:r>
            <a:r>
              <a:rPr sz="1400">
                <a:solidFill>
                  <a:srgbClr val="334155"/>
                </a:solidFill>
              </a:rPr>
              <a:t> Client định kỳ gọi /api/v1/orders/{code}/payment-status để kiểm tra trạng thái thanh toán.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Nút giả lập chuyển khoản thành công:</a:t>
            </a:r>
            <a:r>
              <a:rPr sz="1400">
                <a:solidFill>
                  <a:srgbClr val="334155"/>
                </a:solidFill>
              </a:rPr>
              <a:t> Giúp giảng viên và hội đồng kiểm thử tức thì tính năng chuyển đổi trạng thái đơn hàng.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7. THUẬT TOÁN GỢI Ý THÔNG MINH (RECOMMENDATION ENGINE)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Frequently Bought Together (Thường được mua cùng):</a:t>
            </a:r>
            <a:r>
              <a:rPr sz="1400">
                <a:solidFill>
                  <a:srgbClr val="334155"/>
                </a:solidFill>
              </a:rPr>
              <a:t> Phân tích lịch sử đơn hàng để gợi ý mua kèm phụ kiện (Củ sạc GaN, tai nghe, ốp lưng) giảm 8% combo.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Content-Based Similar Products (Sản phẩm tương tự):</a:t>
            </a:r>
            <a:r>
              <a:rPr sz="1400">
                <a:solidFill>
                  <a:srgbClr val="334155"/>
                </a:solidFill>
              </a:rPr>
              <a:t> Gợi ý các thiết bị cùng danh mục và cùng phân khúc giá (±20%).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Personalized For You (Dành riêng cho bạn):</a:t>
            </a:r>
            <a:r>
              <a:rPr sz="1400">
                <a:solidFill>
                  <a:srgbClr val="334155"/>
                </a:solidFill>
              </a:rPr>
              <a:t> Dựa trên lịch sử xem sản phẩm được ghi nhận trong view_logs.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Hiệu quả:</a:t>
            </a:r>
            <a:r>
              <a:rPr sz="1400">
                <a:solidFill>
                  <a:srgbClr val="334155"/>
                </a:solidFill>
              </a:rPr>
              <a:t> Tăng giá trị trung bình đơn hàng (AOV) và nâng cao mức độ hài lòng của khách hàng.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8. NÂNG CẤP GIAO DIỆN GLASSMORPHISM &amp; LIQUID AURORA MESH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Thiết kế hiện đại chuẩn 2026:</a:t>
            </a:r>
            <a:r>
              <a:rPr sz="1400">
                <a:solidFill>
                  <a:srgbClr val="334155"/>
                </a:solidFill>
              </a:rPr>
              <a:t> Lấy cảm hứng từ thương hiệu CellphoneS nhưng nâng tầm với hiệu ứng kính mờ Glassmorphism.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Liquid Aurora Mesh Background:</a:t>
            </a:r>
            <a:r>
              <a:rPr sz="1400">
                <a:solidFill>
                  <a:srgbClr val="334155"/>
                </a:solidFill>
              </a:rPr>
              <a:t> 4 khối màu loang lổ hữu cơ chuyển động mượt mà (Crimson Red, Neon Magenta, Cyan, Purple).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Vòng lặp vô tận (Infinite Loops):</a:t>
            </a:r>
            <a:r>
              <a:rPr sz="1400">
                <a:solidFill>
                  <a:srgbClr val="334155"/>
                </a:solidFill>
              </a:rPr>
              <a:t> Hero Banner tự động chuyển cảnh mượt mà 4.5s kèm thanh tiến trình; Marquee thương hiệu chạy liên tục 60fps bằng phần cứng GPU.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Tương tác vi mô (Micro-interactions):</a:t>
            </a:r>
            <a:r>
              <a:rPr sz="1400">
                <a:solidFill>
                  <a:srgbClr val="334155"/>
                </a:solidFill>
              </a:rPr>
              <a:t> Hiệu ứng quét sáng Specular Sweep khi rê chuột qua thẻ sản phẩm, LED đếm ngược Flash Sale.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9. PHÂN HỆ QUẢN TRỊ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Dashboard Trực Quan:</a:t>
            </a:r>
            <a:r>
              <a:rPr sz="1400">
                <a:solidFill>
                  <a:srgbClr val="334155"/>
                </a:solidFill>
              </a:rPr>
              <a:t> Thống kê tổng doanh thu, tỷ lệ tăng trưởng, đơn mới và biểu đồ doanh thu 7 ngày.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Quản lý CRUD Sản phẩm:</a:t>
            </a:r>
            <a:r>
              <a:rPr sz="1400">
                <a:solidFill>
                  <a:srgbClr val="334155"/>
                </a:solidFill>
              </a:rPr>
              <a:t> Bảng dữ liệu có tìm kiếm, lọc, form thêm/sửa, tải ảnh có xem trước (preview).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Quản lý Đơn hàng:</a:t>
            </a:r>
            <a:r>
              <a:rPr sz="1400">
                <a:solidFill>
                  <a:srgbClr val="334155"/>
                </a:solidFill>
              </a:rPr>
              <a:t> Xem chi tiết sản phẩm, bấm 'Duyệt TT' duyệt nhanh chuyển khoản QR, đổi trạng thái và in hóa đơn bán hàng A4.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Quản lý Người dùng &amp; Khuyến mãi:</a:t>
            </a:r>
            <a:r>
              <a:rPr sz="1400">
                <a:solidFill>
                  <a:srgbClr val="334155"/>
                </a:solidFill>
              </a:rPr>
              <a:t> Khóa/kích hoạt tài khoản người dùng, tạo mã giảm giá theo % hoặc số tiền cố định.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10. KẾT QUẢ KIỂM THỬ POSTMAN &amp; 12 UI 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Kiểm thử API tự động:</a:t>
            </a:r>
            <a:r>
              <a:rPr sz="1400">
                <a:solidFill>
                  <a:srgbClr val="334155"/>
                </a:solidFill>
              </a:rPr>
              <a:t> Toàn bộ 37/37 API trong Postman Collection vượt qua các bài kiểm tra assert status code, schema dữ liệu và token JWT.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Kiểm thử Giao diện Front-end (12 UI Test Cases):</a:t>
            </a:r>
            <a:r>
              <a:rPr sz="140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  - TC-UI-01 đến 03:</a:t>
            </a:r>
            <a:r>
              <a:rPr sz="1400">
                <a:solidFill>
                  <a:srgbClr val="334155"/>
                </a:solidFill>
              </a:rPr>
              <a:t> Form Validation Đăng ký, Đăng nhập, Giỏ hàng tính tiền realtime (PASSED).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  - TC-UI-04 đến 06:</a:t>
            </a:r>
            <a:r>
              <a:rPr sz="1400">
                <a:solidFill>
                  <a:srgbClr val="334155"/>
                </a:solidFill>
              </a:rPr>
              <a:t> Áp dụng mã giảm giá, Quét mã VietQR và Polling thanh toán (PASSED).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  - TC-UI-07 đến 09:</a:t>
            </a:r>
            <a:r>
              <a:rPr sz="1400">
                <a:solidFill>
                  <a:srgbClr val="334155"/>
                </a:solidFill>
              </a:rPr>
              <a:t> Live Search debounce 250ms, Bộ lọc đa tiêu chí, Carousel gợi ý (PASSED).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  - TC-UI-10 đến 12:</a:t>
            </a:r>
            <a:r>
              <a:rPr sz="1400">
                <a:solidFill>
                  <a:srgbClr val="334155"/>
                </a:solidFill>
              </a:rPr>
              <a:t> Admin Auth Guard, CRUD Sản phẩm, Responsive Mobile 375px/Desktop (PASSED).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11. PHÂN ĐOẠN VIDEO THUYẾT TRÌNH (PHẦN CỦA TUẤN KIỆT - 5 PHÚT)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Phần 7:</a:t>
            </a:r>
            <a:r>
              <a:rPr sz="1400">
                <a:solidFill>
                  <a:srgbClr val="334155"/>
                </a:solidFill>
              </a:rPr>
              <a:t> Giải thích Kiến trúc Code Front-end (1.5 phút): Trình bày tokens.css, api.js JWT interceptor, cơ chế refresh token và smart mock fallback.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Phần 8:</a:t>
            </a:r>
            <a:r>
              <a:rPr sz="1400">
                <a:solidFill>
                  <a:srgbClr val="334155"/>
                </a:solidFill>
              </a:rPr>
              <a:t> Demo Mua Sắm Khách Hàng (2.0 phút): Đăng ký → Tìm kiếm gợi ý → Chi tiết + Combo phụ kiện → Giỏ hàng &amp; Coupon → Quét mã VietQR &amp; Polling → Lịch sử đơn hàng.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Phần 9:</a:t>
            </a:r>
            <a:r>
              <a:rPr sz="1400">
                <a:solidFill>
                  <a:srgbClr val="334155"/>
                </a:solidFill>
              </a:rPr>
              <a:t> Demo Phân Hệ Quản Trị Admin (1.5 phút): Bảng điều khiển Dashboard → CRUD sản phẩm có ảnh preview → Duyệt thanh toán VietQR &amp; In hóa đơn bán hàng.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Kịch bản bấm giờ chi tiết được lưu trữ tại docs/slides/kich_ban_thuyet_trinh_video.md.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12. BẢNG PHÂN CÔNG &amp; ĐÓNG GÓP THÀNH VIÊN (KẾ HOẠCH 8 NGÀY)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Nguyễn Hữu Nam (33.3%):</a:t>
            </a:r>
            <a:r>
              <a:rPr sz="1400">
                <a:solidFill>
                  <a:srgbClr val="334155"/>
                </a:solidFill>
              </a:rPr>
              <a:t> Tech Lead, Kiến trúc MVC Router, JWT Auth, Thanh toán VietQR, Báo cáo Chương 3, 6.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Trần Thành Trung (33.3%):</a:t>
            </a:r>
            <a:r>
              <a:rPr sz="1400">
                <a:solidFill>
                  <a:srgbClr val="334155"/>
                </a:solidFill>
              </a:rPr>
              <a:t> Thiết kế CSDL MySQL 15 bảng, 37 REST APIs Controllers, Báo cáo Chương 2, 4.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Tuấn Kiệt (33.4%):</a:t>
            </a:r>
            <a:r>
              <a:rPr sz="1400">
                <a:solidFill>
                  <a:srgbClr val="334155"/>
                </a:solidFill>
              </a:rPr>
              <a:t> Toàn bộ UI Front-end Khách hàng &amp; Admin, api.js, Bộ test 12 UI Test Cases, Báo cáo Mở đầu &amp; Chương 1, 5, Slide thuyết trình.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Đánh giá chung:</a:t>
            </a:r>
            <a:r>
              <a:rPr sz="1400">
                <a:solidFill>
                  <a:srgbClr val="334155"/>
                </a:solidFill>
              </a:rPr>
              <a:t> Các thành viên hoàn thành 100% nhiệm vụ được giao đúng hạn theo mốc 8 ngày.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70018"/>
                </a:solidFill>
              </a:rPr>
              <a:t>13. KẾT LUẬN &amp;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Kết quả đạt được:</a:t>
            </a:r>
            <a:r>
              <a:rPr sz="1400">
                <a:solidFill>
                  <a:srgbClr val="334155"/>
                </a:solidFill>
              </a:rPr>
              <a:t> Đề tài hoàn thành xuất sắc toàn bộ yêu cầu của Topic 1: RESTful API với 37 endpoints hoàn chỉnh, bảo mật JWT chuẩn mực, thanh toán VietQR hiện đại và giao diện Glassmorphism đỉnh cao.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Khả năng chạy thử độc lập:</a:t>
            </a:r>
            <a:r>
              <a:rPr sz="1400">
                <a:solidFill>
                  <a:srgbClr val="334155"/>
                </a:solidFill>
              </a:rPr>
              <a:t> Chạy được ngay trên máy sạch chỉ theo hướng dẫn README.md hoặc script start.bat.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•  Hướng phát triển tương lai:</a:t>
            </a:r>
            <a:r>
              <a:rPr sz="140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  - Nâng cấp xác thực OAuth 2.0 (Google, Facebook Login).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  - Tích hợp gửi email xác nhận đơn hàng tự động qua PHPMailer / SendGrid.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>
                <a:solidFill>
                  <a:srgbClr val="334155"/>
                </a:solidFill>
              </a:rPr>
              <a:t>•    - Ứng dụng mô hình AI Deep Learning cho hệ thống gợi ý sản phẩm.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